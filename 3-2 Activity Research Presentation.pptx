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E1DE0-6F2C-48BF-9A32-4C59D925B0E5}" type="datetimeFigureOut">
              <a:rPr lang="en-US" smtClean="0"/>
              <a:t>3/31/2024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4E5588-0831-4553-B932-43830085D3B6}" type="slidenum">
              <a:rPr lang="en-US" smtClean="0"/>
              <a:t>‹#›</a:t>
            </a:fld>
            <a:endParaRPr lang="en-US"/>
          </a:p>
        </p:txBody>
      </p:sp>
    </p:spTree>
    <p:extLst>
      <p:ext uri="{BB962C8B-B14F-4D97-AF65-F5344CB8AC3E}">
        <p14:creationId xmlns:p14="http://schemas.microsoft.com/office/powerpoint/2010/main" val="1197087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The speaker introduces the main topic of the paragraph.</a:t>
            </a:r>
          </a:p>
          <a:p>
            <a:r>
              <a:rPr lang="en-US" dirty="0">
                <a:latin typeface="Times New Roman" panose="02020603050405020304" pitchFamily="18" charset="0"/>
                <a:cs typeface="Times New Roman" panose="02020603050405020304" pitchFamily="18" charset="0"/>
              </a:rPr>
              <a:t>How IT degrees can benefit college graduates.</a:t>
            </a:r>
          </a:p>
          <a:p>
            <a:r>
              <a:rPr lang="en-US" dirty="0">
                <a:latin typeface="Times New Roman" panose="02020603050405020304" pitchFamily="18" charset="0"/>
                <a:cs typeface="Times New Roman" panose="02020603050405020304" pitchFamily="18" charset="0"/>
              </a:rPr>
              <a:t>The turbulence within the Tech sector has caused many layoffs.</a:t>
            </a:r>
          </a:p>
          <a:p>
            <a:r>
              <a:rPr lang="en-US" dirty="0">
                <a:latin typeface="Times New Roman" panose="02020603050405020304" pitchFamily="18" charset="0"/>
                <a:cs typeface="Times New Roman" panose="02020603050405020304" pitchFamily="18" charset="0"/>
              </a:rPr>
              <a:t>AI’s increased dominance will negatively affect future IT graduates.</a:t>
            </a:r>
          </a:p>
          <a:p>
            <a:r>
              <a:rPr lang="en-US" dirty="0">
                <a:latin typeface="Times New Roman" panose="02020603050405020304" pitchFamily="18" charset="0"/>
                <a:cs typeface="Times New Roman" panose="02020603050405020304" pitchFamily="18" charset="0"/>
              </a:rPr>
              <a:t>IT courses must adapt and focus on the software side to better prepare students for the future.</a:t>
            </a:r>
          </a:p>
        </p:txBody>
      </p:sp>
      <p:sp>
        <p:nvSpPr>
          <p:cNvPr id="4" name="Slide Number Placeholder 3"/>
          <p:cNvSpPr>
            <a:spLocks noGrp="1"/>
          </p:cNvSpPr>
          <p:nvPr>
            <p:ph type="sldNum" sz="quarter" idx="5"/>
          </p:nvPr>
        </p:nvSpPr>
        <p:spPr/>
        <p:txBody>
          <a:bodyPr/>
          <a:lstStyle/>
          <a:p>
            <a:fld id="{9A4E5588-0831-4553-B932-43830085D3B6}" type="slidenum">
              <a:rPr lang="en-US" smtClean="0"/>
              <a:t>2</a:t>
            </a:fld>
            <a:endParaRPr lang="en-US"/>
          </a:p>
        </p:txBody>
      </p:sp>
    </p:spTree>
    <p:extLst>
      <p:ext uri="{BB962C8B-B14F-4D97-AF65-F5344CB8AC3E}">
        <p14:creationId xmlns:p14="http://schemas.microsoft.com/office/powerpoint/2010/main" val="430284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speaker talks about the benefits of IT for the audience.</a:t>
            </a:r>
          </a:p>
          <a:p>
            <a:r>
              <a:rPr lang="en-US" dirty="0"/>
              <a:t>Developing a plan for personal success as tech sector layoffs increase. </a:t>
            </a:r>
          </a:p>
          <a:p>
            <a:r>
              <a:rPr lang="en-US" dirty="0"/>
              <a:t>Describe the point of the research and how it will help hesitant individuals reconsider their thoughts about the tech sector.</a:t>
            </a:r>
          </a:p>
          <a:p>
            <a:r>
              <a:rPr lang="en-US" dirty="0"/>
              <a:t>Describe why this research is important for all current and future college students.</a:t>
            </a:r>
          </a:p>
          <a:p>
            <a:r>
              <a:rPr lang="en-US" dirty="0"/>
              <a:t>It is vital to understand the job market for a degree before choosing, as it can lead to regret later in life.</a:t>
            </a:r>
          </a:p>
          <a:p>
            <a:endParaRPr lang="en-US" dirty="0"/>
          </a:p>
          <a:p>
            <a:endParaRPr lang="en-US" dirty="0"/>
          </a:p>
        </p:txBody>
      </p:sp>
      <p:sp>
        <p:nvSpPr>
          <p:cNvPr id="4" name="Slide Number Placeholder 3"/>
          <p:cNvSpPr>
            <a:spLocks noGrp="1"/>
          </p:cNvSpPr>
          <p:nvPr>
            <p:ph type="sldNum" sz="quarter" idx="5"/>
          </p:nvPr>
        </p:nvSpPr>
        <p:spPr/>
        <p:txBody>
          <a:bodyPr/>
          <a:lstStyle/>
          <a:p>
            <a:fld id="{9A4E5588-0831-4553-B932-43830085D3B6}" type="slidenum">
              <a:rPr lang="en-US" smtClean="0"/>
              <a:t>3</a:t>
            </a:fld>
            <a:endParaRPr lang="en-US"/>
          </a:p>
        </p:txBody>
      </p:sp>
    </p:spTree>
    <p:extLst>
      <p:ext uri="{BB962C8B-B14F-4D97-AF65-F5344CB8AC3E}">
        <p14:creationId xmlns:p14="http://schemas.microsoft.com/office/powerpoint/2010/main" val="3007360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4AAE2B2-B481-4A97-8510-82F275152AA3}" type="datetimeFigureOut">
              <a:rPr lang="en-US" smtClean="0"/>
              <a:t>3/31/2024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4234372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290552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4287715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148245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2763145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2774362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2796301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40468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3520116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826548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3581015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65759D-A4C1-42AA-8B94-FDE454AB2EBA}"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856108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2190936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812543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4050219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3034677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AE2B2-B481-4A97-8510-82F275152AA3}" type="datetimeFigureOut">
              <a:rPr lang="en-US" smtClean="0"/>
              <a:t>3/31/2024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65759D-A4C1-42AA-8B94-FDE454AB2EBA}" type="slidenum">
              <a:rPr lang="en-US" smtClean="0"/>
              <a:t>‹#›</a:t>
            </a:fld>
            <a:endParaRPr lang="en-US" dirty="0"/>
          </a:p>
        </p:txBody>
      </p:sp>
    </p:spTree>
    <p:extLst>
      <p:ext uri="{BB962C8B-B14F-4D97-AF65-F5344CB8AC3E}">
        <p14:creationId xmlns:p14="http://schemas.microsoft.com/office/powerpoint/2010/main" val="3598792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4AAE2B2-B481-4A97-8510-82F275152AA3}" type="datetimeFigureOut">
              <a:rPr lang="en-US" smtClean="0"/>
              <a:t>3/31/2024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C65759D-A4C1-42AA-8B94-FDE454AB2EBA}" type="slidenum">
              <a:rPr lang="en-US" smtClean="0"/>
              <a:t>‹#›</a:t>
            </a:fld>
            <a:endParaRPr lang="en-US" dirty="0"/>
          </a:p>
        </p:txBody>
      </p:sp>
    </p:spTree>
    <p:extLst>
      <p:ext uri="{BB962C8B-B14F-4D97-AF65-F5344CB8AC3E}">
        <p14:creationId xmlns:p14="http://schemas.microsoft.com/office/powerpoint/2010/main" val="891812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au.edu/blog/is-an-it-degree-worth-it/" TargetMode="External"/><Relationship Id="rId2" Type="http://schemas.openxmlformats.org/officeDocument/2006/relationships/hyperlink" Target="https://www.computerscience.org/degrees/bachelors/online/information-technology/" TargetMode="External"/><Relationship Id="rId1" Type="http://schemas.openxmlformats.org/officeDocument/2006/relationships/slideLayout" Target="../slideLayouts/slideLayout2.xml"/><Relationship Id="rId4" Type="http://schemas.openxmlformats.org/officeDocument/2006/relationships/hyperlink" Target="https://techcrunch.com/2024/03/27/tech-layoffs-2023-li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2587C-27EA-6AA6-73BB-4E22FF385C7A}"/>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Information Technology </a:t>
            </a:r>
          </a:p>
        </p:txBody>
      </p:sp>
      <p:sp>
        <p:nvSpPr>
          <p:cNvPr id="3" name="Subtitle 2">
            <a:extLst>
              <a:ext uri="{FF2B5EF4-FFF2-40B4-BE49-F238E27FC236}">
                <a16:creationId xmlns:a16="http://schemas.microsoft.com/office/drawing/2014/main" id="{C58BA03D-10B4-F4DB-A89D-749072D59D9F}"/>
              </a:ext>
            </a:extLst>
          </p:cNvPr>
          <p:cNvSpPr>
            <a:spLocks noGrp="1"/>
          </p:cNvSpPr>
          <p:nvPr>
            <p:ph type="subTitle" idx="1"/>
          </p:nvPr>
        </p:nvSpPr>
        <p:spPr/>
        <p:txBody>
          <a:bodyPr>
            <a:normAutofit/>
          </a:bodyPr>
          <a:lstStyle/>
          <a:p>
            <a:r>
              <a:rPr lang="en-US" dirty="0">
                <a:latin typeface="Times New Roman" panose="02020603050405020304" pitchFamily="18" charset="0"/>
                <a:cs typeface="Times New Roman" panose="02020603050405020304" pitchFamily="18" charset="0"/>
              </a:rPr>
              <a:t>Tamani Harrison</a:t>
            </a:r>
          </a:p>
        </p:txBody>
      </p:sp>
    </p:spTree>
    <p:extLst>
      <p:ext uri="{BB962C8B-B14F-4D97-AF65-F5344CB8AC3E}">
        <p14:creationId xmlns:p14="http://schemas.microsoft.com/office/powerpoint/2010/main" val="1180083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C338C-2813-CA4D-0F49-537B93F47BEA}"/>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What are the benefits of an Information technology degree In a changing market?</a:t>
            </a:r>
          </a:p>
        </p:txBody>
      </p:sp>
      <p:sp>
        <p:nvSpPr>
          <p:cNvPr id="3" name="Content Placeholder 2">
            <a:extLst>
              <a:ext uri="{FF2B5EF4-FFF2-40B4-BE49-F238E27FC236}">
                <a16:creationId xmlns:a16="http://schemas.microsoft.com/office/drawing/2014/main" id="{382328BB-5C0D-B8C6-BB61-940C8C67FA8D}"/>
              </a:ext>
            </a:extLst>
          </p:cNvPr>
          <p:cNvSpPr>
            <a:spLocks noGrp="1"/>
          </p:cNvSpPr>
          <p:nvPr>
            <p:ph idx="1"/>
          </p:nvPr>
        </p:nvSpPr>
        <p:spPr>
          <a:xfrm>
            <a:off x="1141412" y="1875414"/>
            <a:ext cx="9905999" cy="3541714"/>
          </a:xfrm>
        </p:spPr>
        <p:txBody>
          <a:bodyPr>
            <a:noAutofit/>
          </a:bodyPr>
          <a:lstStyle/>
          <a:p>
            <a:r>
              <a:rPr lang="en-US" sz="1800" dirty="0">
                <a:latin typeface="Times New Roman" panose="02020603050405020304" pitchFamily="18" charset="0"/>
                <a:cs typeface="Times New Roman" panose="02020603050405020304" pitchFamily="18" charset="0"/>
              </a:rPr>
              <a:t>The information technology sector offers many benefits such as increased salaries and the use of critical thinking skills to solve tasks. An Information Technology degree gives graduates the chance to acquire work and advance within the tech sector. As a future IT graduate, I understand that what I learn in my classes will be key to my success. As of Late, there have been many layoffs in the tech field. This has caused me to worry about my chances of gaining employment after I graduate. Within the first two months of 2024 around 34,939 people were laid off (Corrall, 2024). The topics studied within information technology are beneficial due to the increased need for tech support (Is an Information Technology Degree a Good Career Path? + Benefits and Salary - Bay Atlantic University - Washington, D.C., 2020). The increased reliance on Artificial intelligence has led to many companies downsizing their workforce (Corrall, 2024). Future IT graduates may struggle to gain employment as more companies turn to AI to complete multiple tasks. The focus of IT courses going forward should be coding, software development, and network operations (Online Bachelor’s in Information Technology | ComputerScience.org, 2022). This change gives IT graduates a better chance of gaining and retaining employment as software development and correction will become extremely important in an AI-dominated world.</a:t>
            </a:r>
          </a:p>
        </p:txBody>
      </p:sp>
    </p:spTree>
    <p:extLst>
      <p:ext uri="{BB962C8B-B14F-4D97-AF65-F5344CB8AC3E}">
        <p14:creationId xmlns:p14="http://schemas.microsoft.com/office/powerpoint/2010/main" val="2755671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17649-18E0-3949-9C86-2200CFCD21CF}"/>
              </a:ext>
            </a:extLst>
          </p:cNvPr>
          <p:cNvSpPr>
            <a:spLocks noGrp="1"/>
          </p:cNvSpPr>
          <p:nvPr>
            <p:ph type="title"/>
          </p:nvPr>
        </p:nvSpPr>
        <p:spPr>
          <a:xfrm>
            <a:off x="1141072" y="528577"/>
            <a:ext cx="9905998" cy="1478570"/>
          </a:xfrm>
        </p:spPr>
        <p:txBody>
          <a:bodyPr>
            <a:normAutofit/>
          </a:bodyPr>
          <a:lstStyle/>
          <a:p>
            <a:r>
              <a:rPr lang="en-US" sz="2800" dirty="0">
                <a:latin typeface="Times New Roman" panose="02020603050405020304" pitchFamily="18" charset="0"/>
                <a:cs typeface="Times New Roman" panose="02020603050405020304" pitchFamily="18" charset="0"/>
              </a:rPr>
              <a:t>How does this information help future Information technology graduates?</a:t>
            </a:r>
          </a:p>
        </p:txBody>
      </p:sp>
      <p:sp>
        <p:nvSpPr>
          <p:cNvPr id="3" name="Content Placeholder 2">
            <a:extLst>
              <a:ext uri="{FF2B5EF4-FFF2-40B4-BE49-F238E27FC236}">
                <a16:creationId xmlns:a16="http://schemas.microsoft.com/office/drawing/2014/main" id="{C171A0DB-59C2-7447-D231-33810A6E4F22}"/>
              </a:ext>
            </a:extLst>
          </p:cNvPr>
          <p:cNvSpPr>
            <a:spLocks noGrp="1"/>
          </p:cNvSpPr>
          <p:nvPr>
            <p:ph idx="1"/>
          </p:nvPr>
        </p:nvSpPr>
        <p:spPr>
          <a:xfrm>
            <a:off x="1141072" y="2159545"/>
            <a:ext cx="9905999" cy="3541714"/>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This research is necessary for all college students because everyone wants to know if the degree, they chose will pay off later in life. Students need to understand the job market of a profession before they decide to enter it. Without this information, many future graduates may find themselves struggling to gain employment in their field of study. This information will help current IT students and future college students develop a plan for their future. Understanding the landscape of the tech field can help students craft the path necessary for personal success. The increased number of layoffs over the past few years may make some hesitant to pursue a degree in information technology. In 2023, 262,735 individual were laid off from their jobs (Corrall, 2024). The point of this research is to help show hesitant individuals that the tech field is a viable option if they take the right steps to prepare themselves for the future. The audience of this research needs to understand what they are getting themselves into before they regret it. Choosing a degree without a plan can lead to many regretting going to college. The purpose of this research is to prevent that from happening by providing my audience with cohesive and succinct information that describes the current job market in the IT sector. Along with steps to take to prevent them from falling behind as AI integration continues to rise. </a:t>
            </a:r>
          </a:p>
        </p:txBody>
      </p:sp>
    </p:spTree>
    <p:extLst>
      <p:ext uri="{BB962C8B-B14F-4D97-AF65-F5344CB8AC3E}">
        <p14:creationId xmlns:p14="http://schemas.microsoft.com/office/powerpoint/2010/main" val="3509916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F38A1-6288-6F54-78F2-9E1D8F4E3B65}"/>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64EE7074-6E75-B8F9-8B6D-A6D45A2AD9B5}"/>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Online Bachelor’s in Information Technology | ComputerScience.org. (2022, January 14). Www.computerscience.org. </a:t>
            </a:r>
            <a:r>
              <a:rPr lang="en-US" sz="2000" dirty="0">
                <a:latin typeface="Times New Roman" panose="02020603050405020304" pitchFamily="18" charset="0"/>
                <a:cs typeface="Times New Roman" panose="02020603050405020304" pitchFamily="18" charset="0"/>
                <a:hlinkClick r:id="rId2"/>
              </a:rPr>
              <a:t>https://www.computerscience.org/degrees/bachelors/online/information-technology/</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Is an Information Technology Degree a Good Career Path? + Benefits And Salary - Bay Atlantic University - Washington, D.C. (2020, June 3). </a:t>
            </a:r>
            <a:r>
              <a:rPr lang="en-US" sz="2000" dirty="0">
                <a:latin typeface="Times New Roman" panose="02020603050405020304" pitchFamily="18" charset="0"/>
                <a:cs typeface="Times New Roman" panose="02020603050405020304" pitchFamily="18" charset="0"/>
                <a:hlinkClick r:id="rId3"/>
              </a:rPr>
              <a:t>https://bau.edu/blog/is-an-it-degree-worth-it/</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Corrall, A. S. and C. (2024, March 27). A comprehensive list of 2023 &amp; 2024 tech layoffs. TechCrunch. </a:t>
            </a:r>
            <a:r>
              <a:rPr lang="en-US" sz="2000" dirty="0">
                <a:latin typeface="Times New Roman" panose="02020603050405020304" pitchFamily="18" charset="0"/>
                <a:cs typeface="Times New Roman" panose="02020603050405020304" pitchFamily="18" charset="0"/>
                <a:hlinkClick r:id="rId4"/>
              </a:rPr>
              <a:t>https://techcrunch.com/2024/03/27/tech-layoffs-2023-list/</a:t>
            </a:r>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6706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170</TotalTime>
  <Words>788</Words>
  <Application>Microsoft Office PowerPoint</Application>
  <PresentationFormat>Widescreen</PresentationFormat>
  <Paragraphs>22</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Arial</vt:lpstr>
      <vt:lpstr>Times New Roman</vt:lpstr>
      <vt:lpstr>Tw Cen MT</vt:lpstr>
      <vt:lpstr>Circuit</vt:lpstr>
      <vt:lpstr>Information Technology </vt:lpstr>
      <vt:lpstr>What are the benefits of an Information technology degree In a changing market?</vt:lpstr>
      <vt:lpstr>How does this information help future Information technology graduates?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Harrison, Tamani</dc:creator>
  <cp:lastModifiedBy>Harrison, Tamani</cp:lastModifiedBy>
  <cp:revision>39</cp:revision>
  <dcterms:created xsi:type="dcterms:W3CDTF">2024-03-25T02:48:47Z</dcterms:created>
  <dcterms:modified xsi:type="dcterms:W3CDTF">2024-03-31T23:12:17Z</dcterms:modified>
</cp:coreProperties>
</file>